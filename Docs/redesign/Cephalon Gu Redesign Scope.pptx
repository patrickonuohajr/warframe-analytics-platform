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425c031af4ef7" /><Relationship Type="http://schemas.openxmlformats.org/officeDocument/2006/relationships/extended-properties" Target="/docProps/app.xml" Id="R06340774febb488b" /><Relationship Type="http://schemas.openxmlformats.org/officeDocument/2006/relationships/officeDocument" Target="/ppt/presentation.xml" Id="R2f27cfa0936e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4890b26b54392"/>
  </p:sldMasterIdLst>
  <p:notesMasterIdLst>
    <p:notesMasterId xmlns:r="http://schemas.openxmlformats.org/officeDocument/2006/relationships" r:id="R846458391d3e4129"/>
  </p:notesMasterIdLst>
  <p:sldIdLst>
    <p:sldId xmlns:r="http://schemas.openxmlformats.org/officeDocument/2006/relationships" id="256" r:id="Ra2b5da15e4164a6b"/>
    <p:sldId xmlns:r="http://schemas.openxmlformats.org/officeDocument/2006/relationships" id="257" r:id="Rbd07be2e0a7541f4"/>
    <p:sldId xmlns:r="http://schemas.openxmlformats.org/officeDocument/2006/relationships" id="258" r:id="R0c7adaa1d993446f"/>
    <p:sldId xmlns:r="http://schemas.openxmlformats.org/officeDocument/2006/relationships" id="259" r:id="R6759b4a8678d4229"/>
    <p:sldId xmlns:r="http://schemas.openxmlformats.org/officeDocument/2006/relationships" id="260" r:id="Rb244c97f0d8341e6"/>
    <p:sldId xmlns:r="http://schemas.openxmlformats.org/officeDocument/2006/relationships" id="261" r:id="R42978011810e4ce2"/>
    <p:sldId xmlns:r="http://schemas.openxmlformats.org/officeDocument/2006/relationships" id="262" r:id="Rcecc693b1044446c"/>
    <p:sldId xmlns:r="http://schemas.openxmlformats.org/officeDocument/2006/relationships" id="263" r:id="R5f36c929a032445e"/>
    <p:sldId xmlns:r="http://schemas.openxmlformats.org/officeDocument/2006/relationships" id="264" r:id="R5c777a53a2c64b29"/>
    <p:sldId xmlns:r="http://schemas.openxmlformats.org/officeDocument/2006/relationships" id="265" r:id="R6bc47f67656741b3"/>
    <p:sldId xmlns:r="http://schemas.openxmlformats.org/officeDocument/2006/relationships" id="266" r:id="R81c0d8d1710a4cdf"/>
    <p:sldId xmlns:r="http://schemas.openxmlformats.org/officeDocument/2006/relationships" id="267" r:id="R11a11ac0e297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2f7c73c444326" /><Relationship Type="http://schemas.openxmlformats.org/officeDocument/2006/relationships/slideMaster" Target="/ppt/slideMasters/slideMaster1.xml" Id="Rb3c4890b26b54392" /><Relationship Type="http://schemas.openxmlformats.org/officeDocument/2006/relationships/notesMaster" Target="/ppt/notesMasters/notesMaster1.xml" Id="R846458391d3e4129" /><Relationship Type="http://schemas.openxmlformats.org/officeDocument/2006/relationships/presProps" Target="/ppt/presProps.xml" Id="R4a4276d4de064c7d" /><Relationship Type="http://schemas.openxmlformats.org/officeDocument/2006/relationships/tableStyles" Target="/ppt/tableStyles.xml" Id="R8ddac97b080b43db" /><Relationship Type="http://schemas.openxmlformats.org/officeDocument/2006/relationships/slide" Target="/ppt/slides/slide1.xml" Id="Ra2b5da15e4164a6b" /><Relationship Type="http://schemas.openxmlformats.org/officeDocument/2006/relationships/slide" Target="/ppt/slides/slide2.xml" Id="Rbd07be2e0a7541f4" /><Relationship Type="http://schemas.openxmlformats.org/officeDocument/2006/relationships/slide" Target="/ppt/slides/slide3.xml" Id="R0c7adaa1d993446f" /><Relationship Type="http://schemas.openxmlformats.org/officeDocument/2006/relationships/slide" Target="/ppt/slides/slide4.xml" Id="R6759b4a8678d4229" /><Relationship Type="http://schemas.openxmlformats.org/officeDocument/2006/relationships/slide" Target="/ppt/slides/slide5.xml" Id="Rb244c97f0d8341e6" /><Relationship Type="http://schemas.openxmlformats.org/officeDocument/2006/relationships/slide" Target="/ppt/slides/slide6.xml" Id="R42978011810e4ce2" /><Relationship Type="http://schemas.openxmlformats.org/officeDocument/2006/relationships/slide" Target="/ppt/slides/slide7.xml" Id="Rcecc693b1044446c" /><Relationship Type="http://schemas.openxmlformats.org/officeDocument/2006/relationships/slide" Target="/ppt/slides/slide8.xml" Id="R5f36c929a032445e" /><Relationship Type="http://schemas.openxmlformats.org/officeDocument/2006/relationships/slide" Target="/ppt/slides/slide9.xml" Id="R5c777a53a2c64b29" /><Relationship Type="http://schemas.openxmlformats.org/officeDocument/2006/relationships/slide" Target="/ppt/slides/slide10.xml" Id="R6bc47f67656741b3" /><Relationship Type="http://schemas.openxmlformats.org/officeDocument/2006/relationships/slide" Target="/ppt/slides/slide11.xml" Id="R81c0d8d1710a4cdf" /><Relationship Type="http://schemas.openxmlformats.org/officeDocument/2006/relationships/slide" Target="/ppt/slides/slide12.xml" Id="R11a11ac0e297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419a7c7515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de4d6be4d40c5" /><Relationship Type="http://schemas.openxmlformats.org/officeDocument/2006/relationships/notesMaster" Target="/ppt/notesMasters/notesMaster1.xml" Id="Ra51fab1fdf8a49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d587522513426b" /><Relationship Type="http://schemas.openxmlformats.org/officeDocument/2006/relationships/notesMaster" Target="/ppt/notesMasters/notesMaster1.xml" Id="R46553103e60e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8468e530b345f2" /><Relationship Type="http://schemas.openxmlformats.org/officeDocument/2006/relationships/notesMaster" Target="/ppt/notesMasters/notesMaster1.xml" Id="R18ed8093107c4e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6b224e7fc14d6f" /><Relationship Type="http://schemas.openxmlformats.org/officeDocument/2006/relationships/notesMaster" Target="/ppt/notesMasters/notesMaster1.xml" Id="Rae75b98c5e02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918ebb1617414d" /><Relationship Type="http://schemas.openxmlformats.org/officeDocument/2006/relationships/notesMaster" Target="/ppt/notesMasters/notesMaster1.xml" Id="Ra87012438ee8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a961f4160d461b" /><Relationship Type="http://schemas.openxmlformats.org/officeDocument/2006/relationships/notesMaster" Target="/ppt/notesMasters/notesMaster1.xml" Id="R79a59f4f2e9145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942640dc3e4964" /><Relationship Type="http://schemas.openxmlformats.org/officeDocument/2006/relationships/notesMaster" Target="/ppt/notesMasters/notesMaster1.xml" Id="Rcb057551f72b46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89a7daecae4107" /><Relationship Type="http://schemas.openxmlformats.org/officeDocument/2006/relationships/notesMaster" Target="/ppt/notesMasters/notesMaster1.xml" Id="R493c278797c443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5f5c27b502488f" /><Relationship Type="http://schemas.openxmlformats.org/officeDocument/2006/relationships/notesMaster" Target="/ppt/notesMasters/notesMaster1.xml" Id="R0a84b47a4d3f46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8636f8c968418a" /><Relationship Type="http://schemas.openxmlformats.org/officeDocument/2006/relationships/notesMaster" Target="/ppt/notesMasters/notesMaster1.xml" Id="R9120aead6d1742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387a19bbe04555" /><Relationship Type="http://schemas.openxmlformats.org/officeDocument/2006/relationships/notesMaster" Target="/ppt/notesMasters/notesMaster1.xml" Id="R097eef19a9a340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b20f51753a4e22" /><Relationship Type="http://schemas.openxmlformats.org/officeDocument/2006/relationships/notesMaster" Target="/ppt/notesMasters/notesMaster1.xml" Id="R752556bfa88141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Docs/redesign/Cephalon Gu Redesign Report.md</a:t>
            </a:r>
          </a:p>
          <a:p xmlns:a="http://schemas.openxmlformats.org/drawingml/2006/main">
            <a:r>
              <a:t>- Docs/redesign/concepts/04-loadout.png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redesign brief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Docs/Cephalon_Gu_Master_Roadmap.md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Docs/redesign/before/home-desktop.png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src/index.css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production build and lint output, 2026-08-27</a:t>
            </a:r>
          </a:p>
          <a:p xmlns:a="http://schemas.openxmlformats.org/drawingml/2006/main">
            <a:r>
              <a:t>- Docs/redesign/before/home-mobile-overflow.png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Docs/redesign/Cephalon Gu Redesign 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Docs/redesign/before/home-desktop.png</a:t>
            </a:r>
          </a:p>
          <a:p xmlns:a="http://schemas.openxmlformats.org/drawingml/2006/main">
            <a:r>
              <a:t>- Docs/redesign/concepts/01-home.png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Docs/redesign/before/codex-desktop.png</a:t>
            </a:r>
          </a:p>
          <a:p xmlns:a="http://schemas.openxmlformats.org/drawingml/2006/main">
            <a:r>
              <a:t>- Docs/redesign/concepts/02-codex.png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Docs/redesign/before/build-detail-desktop.png</a:t>
            </a:r>
          </a:p>
          <a:p xmlns:a="http://schemas.openxmlformats.org/drawingml/2006/main">
            <a:r>
              <a:t>- Docs/redesign/concepts/03-build-detail.png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Docs/redesign/concepts/04-loadout.png</a:t>
            </a:r>
          </a:p>
          <a:p xmlns:a="http://schemas.openxmlformats.org/drawingml/2006/main">
            <a:r>
              <a:t>- Docs/redesign/before/loadout-desktop.png</a:t>
            </a:r>
          </a:p>
          <a:p xmlns:a="http://schemas.openxmlformats.org/drawingml/2006/main">
            <a:r>
              <a:t>- User-approved Arsenal slot constraints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Docs/redesign/before/mods-desktop.png</a:t>
            </a:r>
          </a:p>
          <a:p xmlns:a="http://schemas.openxmlformats.org/drawingml/2006/main">
            <a:r>
              <a:t>- Docs/redesign/concepts/05-mods.png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Docs/redesign/before/riven-editor-desktop.png</a:t>
            </a:r>
          </a:p>
          <a:p xmlns:a="http://schemas.openxmlformats.org/drawingml/2006/main">
            <a:r>
              <a:t>- Docs/redesign/concepts/06-riven-editor.png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Docs/redesign/Cephalon Gu Redesign 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4c0e9d330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c4bba5d7f48f2" /><Relationship Type="http://schemas.openxmlformats.org/officeDocument/2006/relationships/slideLayout" Target="/ppt/slideLayouts/slideLayout1.xml" Id="R0a13f3cdf4da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13f3cdf4da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84215d7614545" /><Relationship Type="http://schemas.openxmlformats.org/officeDocument/2006/relationships/image" Target="/ppt/media/image.png" Id="Rae421f52d0994df3" /><Relationship Type="http://schemas.openxmlformats.org/officeDocument/2006/relationships/notesSlide" Target="/ppt/notesSlides/notesSlide1.xml" Id="R04674325d84842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f5c20aafc41c9" /><Relationship Type="http://schemas.openxmlformats.org/officeDocument/2006/relationships/notesSlide" Target="/ppt/notesSlides/notesSlide2.xml" Id="Rbac8f18b447b48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01b5afa84014" /><Relationship Type="http://schemas.openxmlformats.org/officeDocument/2006/relationships/image" Target="/ppt/media/image.jpeg" Id="R66035412874944b9" /><Relationship Type="http://schemas.openxmlformats.org/officeDocument/2006/relationships/notesSlide" Target="/ppt/notesSlides/notesSlide3.xml" Id="R8178f31990ed4c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ead26d63d4536" /><Relationship Type="http://schemas.openxmlformats.org/officeDocument/2006/relationships/image" Target="/ppt/media/image2.jpeg" Id="R2dfc990f8d9c480b" /><Relationship Type="http://schemas.openxmlformats.org/officeDocument/2006/relationships/notesSlide" Target="/ppt/notesSlides/notesSlide4.xml" Id="Rbf11dbc971c146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5ca437ce04ba9" /><Relationship Type="http://schemas.openxmlformats.org/officeDocument/2006/relationships/notesSlide" Target="/ppt/notesSlides/notesSlide5.xml" Id="Rb196f229ac1e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e6e846f284843" /><Relationship Type="http://schemas.openxmlformats.org/officeDocument/2006/relationships/image" Target="/ppt/media/image3.jpeg" Id="Rcef90d24fe624ce3" /><Relationship Type="http://schemas.openxmlformats.org/officeDocument/2006/relationships/image" Target="/ppt/media/image2.png" Id="Rf8523408c1cb4a11" /><Relationship Type="http://schemas.openxmlformats.org/officeDocument/2006/relationships/notesSlide" Target="/ppt/notesSlides/notesSlide6.xml" Id="R6061898d7c564a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2522b3e2049c8" /><Relationship Type="http://schemas.openxmlformats.org/officeDocument/2006/relationships/image" Target="/ppt/media/image4.jpeg" Id="Rff316bbd111b4a52" /><Relationship Type="http://schemas.openxmlformats.org/officeDocument/2006/relationships/image" Target="/ppt/media/image3.png" Id="Rd2f98904ee704ce8" /><Relationship Type="http://schemas.openxmlformats.org/officeDocument/2006/relationships/notesSlide" Target="/ppt/notesSlides/notesSlide7.xml" Id="R4758df51bf8e49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7043c48b142d0" /><Relationship Type="http://schemas.openxmlformats.org/officeDocument/2006/relationships/image" Target="/ppt/media/image5.jpeg" Id="R60a60135db334e2c" /><Relationship Type="http://schemas.openxmlformats.org/officeDocument/2006/relationships/image" Target="/ppt/media/image4.png" Id="Ra013a0ee929b4080" /><Relationship Type="http://schemas.openxmlformats.org/officeDocument/2006/relationships/notesSlide" Target="/ppt/notesSlides/notesSlide8.xml" Id="Rc37e35b2290e44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3fa94dfa946b2" /><Relationship Type="http://schemas.openxmlformats.org/officeDocument/2006/relationships/image" Target="/ppt/media/image5.png" Id="R51e21cc1ff64441e" /><Relationship Type="http://schemas.openxmlformats.org/officeDocument/2006/relationships/notesSlide" Target="/ppt/notesSlides/notesSlide9.xml" Id="R35647c8337c54c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f582d6623467a" /><Relationship Type="http://schemas.openxmlformats.org/officeDocument/2006/relationships/image" Target="/ppt/media/image6.jpeg" Id="R579f1419a5c44a99" /><Relationship Type="http://schemas.openxmlformats.org/officeDocument/2006/relationships/image" Target="/ppt/media/image6.png" Id="Ra6cd2532a4034a9c" /><Relationship Type="http://schemas.openxmlformats.org/officeDocument/2006/relationships/notesSlide" Target="/ppt/notesSlides/notesSlide10.xml" Id="Rcdec91467c2743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42428db4846cf" /><Relationship Type="http://schemas.openxmlformats.org/officeDocument/2006/relationships/image" Target="/ppt/media/image7.jpeg" Id="R05f2b4cfa08f41f6" /><Relationship Type="http://schemas.openxmlformats.org/officeDocument/2006/relationships/image" Target="/ppt/media/image7.png" Id="R88457ff0fa7a4ea3" /><Relationship Type="http://schemas.openxmlformats.org/officeDocument/2006/relationships/notesSlide" Target="/ppt/notesSlides/notesSlide11.xml" Id="Rceda1e0f20d44c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1a36a0f30440c" /><Relationship Type="http://schemas.openxmlformats.org/officeDocument/2006/relationships/notesSlide" Target="/ppt/notesSlides/notesSlide12.xml" Id="Re531ddbcb5824a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21f52d0994df3"/>
          <a:srcRect xmlns:a="http://schemas.openxmlformats.org/drawingml/2006/main" l="24205" t="0" r="24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E8397-0E67-4370-957D-B47E3E8C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37B9F-5205-4EBD-AA7F-8DAD849C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869C3-1193-40F2-8FD9-BD229A11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13E0F-E729-4212-B0B4-4D36DFB9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A48"/>
                </a:solidFill>
              </a:defRPr>
            </a:pPr>
            <a:r>
              <a:rPr sz="13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B0FAF-2CD6-4507-B351-1B7A5FFA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EE7D8"/>
                </a:solidFill>
              </a:defRPr>
            </a:pPr>
            <a:r>
              <a:rPr sz="4200" b="1">
                <a:solidFill>
                  <a:srgbClr val="EEE7D8"/>
                </a:solidFill>
              </a:rPr>
              <a:t>THE</a:t>
            </a:r>
          </a:p>
          <a:p xmlns:a="http://schemas.openxmlformats.org/drawingml/2006/main">
            <a:pPr algn="l">
              <a:defRPr sz="4200" b="1">
                <a:solidFill>
                  <a:srgbClr val="EEE7D8"/>
                </a:solidFill>
              </a:defRPr>
            </a:pPr>
            <a:r>
              <a:rPr sz="4200" b="1">
                <a:solidFill>
                  <a:srgbClr val="EEE7D8"/>
                </a:solidFill>
              </a:rPr>
              <a:t>CULTIVATED</a:t>
            </a:r>
          </a:p>
          <a:p xmlns:a="http://schemas.openxmlformats.org/drawingml/2006/main">
            <a:pPr algn="l">
              <a:defRPr sz="4200" b="1">
                <a:solidFill>
                  <a:srgbClr val="EEE7D8"/>
                </a:solidFill>
              </a:defRPr>
            </a:pPr>
            <a:r>
              <a:rPr sz="4200" b="1">
                <a:solidFill>
                  <a:srgbClr val="EEE7D8"/>
                </a:solidFill>
              </a:rPr>
              <a:t>ARSENAL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A5E4-E99C-4103-81DC-FC7EB7B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9F91"/>
                </a:solidFill>
              </a:defRPr>
            </a:pPr>
            <a:r>
              <a:rPr sz="1575" b="0">
                <a:solidFill>
                  <a:srgbClr val="A79F91"/>
                </a:solidFill>
              </a:rPr>
              <a:t>Redesign discovery, visual direction, and implementation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E66CC-B0A3-44BD-9883-C65CC0E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A48"/>
                </a:solidFill>
              </a:defRPr>
            </a:pPr>
            <a:r>
              <a:rPr sz="975" b="1">
                <a:solidFill>
                  <a:srgbClr val="C79A48"/>
                </a:solidFill>
              </a:rPr>
              <a:t>KEEP THE CULTIVATION. SHARPEN THE INSTRUMENT.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4F099-0914-45CC-8B3E-43D6C576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27 AUGUST 2026</a:t>
            </a:r>
          </a:p>
        </p:txBody>
      </p:sp>
    </p:spTree>
    <p:extLst>
      <p:ext uri="{BB962C8B-B14F-4D97-AF65-F5344CB8AC3E}">
        <p14:creationId xmlns:p14="http://schemas.microsoft.com/office/powerpoint/2010/main" val="2072637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3E885-EF21-4370-8188-53D9B67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52B94-1D5B-4ADC-8558-0822128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CAMPAIGN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EAC1A-FE1B-462F-B777-70545FE6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CA397-C886-49E0-BC81-53622F62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2FE74-A5F9-484B-87D4-2DA200D5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The redesign changes hierarchy, not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6D182-6CC4-4463-AA87-A2BA4EDD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9F91"/>
                </a:solidFill>
              </a:defRPr>
            </a:pPr>
            <a:r>
              <a:rPr sz="1350" b="0">
                <a:solidFill>
                  <a:srgbClr val="A79F91"/>
                </a:solidFill>
              </a:rPr>
              <a:t>Shipped behavior and game-accurate slot logic are fixed inputs.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214F8-D285-4AE9-8A1B-D051E9C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91DB1-D59A-4C28-94BE-683E128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Cephalon Gu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Cultivation-school lore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Warm dark palette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Cinzel and school colors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Build-card anatomy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12296-DD67-41A8-AD41-68DA335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97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13CC6-4D81-4AC7-A8A2-AE35C34B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28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MECHANICS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322C0-5E83-435A-8AFF-9AB22D8E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Weapon: 4 × 2 + Exilus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Warframe/Melee: 2-4-4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Aura or Stance stays separate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Structured Riven rules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Warframe terminology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87B6F-1079-4C73-8C54-4CB5AE9E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97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36397-2F5B-45B2-8316-F8DE017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28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054C7-B7C5-49CC-A101-31710BA3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Current product only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Desktop-first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Mobile compatibility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Representative data</a:t>
            </a:r>
          </a:p>
          <a:p xmlns:a="http://schemas.openxmlformats.org/drawingml/2006/main">
            <a:pPr algn="l">
              <a:defRPr sz="1575" b="0">
                <a:solidFill>
                  <a:srgbClr val="EEE7D8"/>
                </a:solidFill>
              </a:defRPr>
            </a:pPr>
            <a:r>
              <a:rPr sz="1575" b="0">
                <a:solidFill>
                  <a:srgbClr val="EEE7D8"/>
                </a:solidFill>
              </a:rPr>
              <a:t>No live database writes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2309F-C392-442F-A16D-B293DE5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C32C3-D8D6-4527-B0D9-BA495BF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5B56"/>
                </a:solidFill>
              </a:defRPr>
            </a:pPr>
            <a:r>
              <a:rPr sz="900" b="1">
                <a:solidFill>
                  <a:srgbClr val="D05B56"/>
                </a:solidFill>
              </a:rPr>
              <a:t>OUT OF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11311-61C2-4691-B2C5-15040380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38825"/>
            <a:ext cx="895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No companion tracking or survivability-suite screens. No return to the old 14-button school filter.</a:t>
            </a:r>
          </a:p>
        </p:txBody>
      </p:sp>
    </p:spTree>
    <p:extLst>
      <p:ext uri="{BB962C8B-B14F-4D97-AF65-F5344CB8AC3E}">
        <p14:creationId xmlns:p14="http://schemas.microsoft.com/office/powerpoint/2010/main" val="16956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91F40-018D-454C-8562-36A736F0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6B67B-B142-4118-96DE-14264AE2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CURRENT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9D02B-C55D-4170-9826-4C7E737A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3C920-B6AD-494E-8B9A-C16066B8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28C8-0DC6-443B-8695-11FBB8B3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The product is distinctive, but every layer asks for equal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504CF-D261-4E8E-83DC-AD760645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95425"/>
            <a:ext cx="70866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35412874944b9"/>
          <a:stretch xmlns:a="http://schemas.openxmlformats.org/drawingml/2006/main"/>
        </p:blipFill>
        <p:spPr>
          <a:xfrm xmlns:a="http://schemas.openxmlformats.org/drawingml/2006/main">
            <a:off x="514350" y="1581000"/>
            <a:ext cx="7048500" cy="3962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D00D4-9B9B-421E-95F9-D0DD7C8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WHAT TO KEEP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51B61-A09E-4B28-A2B7-E231ADF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7D8"/>
                </a:solidFill>
              </a:defRPr>
            </a:pPr>
            <a:r>
              <a:rPr sz="1500" b="1">
                <a:solidFill>
                  <a:srgbClr val="EEE7D8"/>
                </a:solidFill>
              </a:rPr>
              <a:t>School identity</a:t>
            </a:r>
          </a:p>
          <a:p xmlns:a="http://schemas.openxmlformats.org/drawingml/2006/main">
            <a:pPr algn="l">
              <a:defRPr sz="1500" b="1">
                <a:solidFill>
                  <a:srgbClr val="EEE7D8"/>
                </a:solidFill>
              </a:defRPr>
            </a:pPr>
            <a:r>
              <a:rPr sz="1500" b="1">
                <a:solidFill>
                  <a:srgbClr val="EEE7D8"/>
                </a:solidFill>
              </a:rPr>
              <a:t>Build-card anatomy</a:t>
            </a:r>
          </a:p>
          <a:p xmlns:a="http://schemas.openxmlformats.org/drawingml/2006/main">
            <a:pPr algn="l">
              <a:defRPr sz="1500" b="1">
                <a:solidFill>
                  <a:srgbClr val="EEE7D8"/>
                </a:solidFill>
              </a:defRPr>
            </a:pPr>
            <a:r>
              <a:rPr sz="1500" b="1">
                <a:solidFill>
                  <a:srgbClr val="EEE7D8"/>
                </a:solidFill>
              </a:rPr>
              <a:t>Warm, authored character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C3F45-E8FF-4572-915A-C2BA2A73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0E840-778C-4982-9E21-448F92B7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WHAT TO 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7523B-459F-41F8-B049-09F3E8C1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7D8"/>
                </a:solidFill>
              </a:defRPr>
            </a:pPr>
            <a:r>
              <a:rPr sz="1500" b="1">
                <a:solidFill>
                  <a:srgbClr val="EEE7D8"/>
                </a:solidFill>
              </a:rPr>
              <a:t>Competing controls</a:t>
            </a:r>
          </a:p>
          <a:p xmlns:a="http://schemas.openxmlformats.org/drawingml/2006/main">
            <a:pPr algn="l">
              <a:defRPr sz="1500" b="1">
                <a:solidFill>
                  <a:srgbClr val="EEE7D8"/>
                </a:solidFill>
              </a:defRPr>
            </a:pPr>
            <a:r>
              <a:rPr sz="1500" b="1">
                <a:solidFill>
                  <a:srgbClr val="EEE7D8"/>
                </a:solidFill>
              </a:rPr>
              <a:t>Repeated card boundaries</a:t>
            </a:r>
          </a:p>
          <a:p xmlns:a="http://schemas.openxmlformats.org/drawingml/2006/main">
            <a:pPr algn="l">
              <a:defRPr sz="1500" b="1">
                <a:solidFill>
                  <a:srgbClr val="EEE7D8"/>
                </a:solidFill>
              </a:defRPr>
            </a:pPr>
            <a:r>
              <a:rPr sz="1500" b="1">
                <a:solidFill>
                  <a:srgbClr val="EEE7D8"/>
                </a:solidFill>
              </a:rPr>
              <a:t>Weak scan order</a:t>
            </a:r>
          </a:p>
          <a:p xmlns:a="http://schemas.openxmlformats.org/drawingml/2006/main">
            <a:pPr algn="l">
              <a:defRPr sz="1500" b="1">
                <a:solidFill>
                  <a:srgbClr val="EEE7D8"/>
                </a:solidFill>
              </a:defRPr>
            </a:pPr>
            <a:r>
              <a:rPr sz="1500" b="1">
                <a:solidFill>
                  <a:srgbClr val="EEE7D8"/>
                </a:solidFill>
              </a:rPr>
              <a:t>Dense metadata without a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A2D6E-7F27-4384-B1A0-AC78D74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72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A48"/>
                </a:solidFill>
              </a:defRPr>
            </a:pPr>
            <a:r>
              <a:rPr sz="1350" b="1">
                <a:solidFill>
                  <a:srgbClr val="C79A48"/>
                </a:solidFill>
              </a:rPr>
              <a:t>The problem is hierarchy and density, not a missing coat of paint.</a:t>
            </a:r>
          </a:p>
        </p:txBody>
      </p:sp>
    </p:spTree>
    <p:extLst>
      <p:ext uri="{BB962C8B-B14F-4D97-AF65-F5344CB8AC3E}">
        <p14:creationId xmlns:p14="http://schemas.microsoft.com/office/powerpoint/2010/main" val="1096664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70037-112A-4DE3-9545-F1719297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D8D57-2633-45F8-844F-A4BA29FB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AUDIT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81D0-3860-4977-AFCE-E42E2C8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9AED-C196-4A29-AC80-A68E6C5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A52FB-4C74-43DB-909B-E851A15D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The current shell does not yet support a safe responsive migration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AE4B-45DA-4C0B-BBAF-A0FCCC7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4574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c990f8d9c480b"/>
          <a:stretch xmlns:a="http://schemas.openxmlformats.org/drawingml/2006/main"/>
        </p:blipFill>
        <p:spPr>
          <a:xfrm xmlns:a="http://schemas.openxmlformats.org/drawingml/2006/main">
            <a:off x="881283" y="1524000"/>
            <a:ext cx="1990285" cy="4305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FEB7F-FF51-414F-9501-D77ACD7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OBSERVED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F38BB-BE7D-4756-9867-CA58AF87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52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A48"/>
                </a:solidFill>
              </a:defRPr>
            </a:pPr>
            <a:r>
              <a:rPr sz="2100" b="1">
                <a:solidFill>
                  <a:srgbClr val="C79A48"/>
                </a:solidFill>
              </a:rPr>
              <a:t>390 → 677 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00D1F-E080-4DC1-9375-417DBBCC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9812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E7D8"/>
                </a:solidFill>
              </a:defRPr>
            </a:pPr>
            <a:r>
              <a:rPr sz="1350" b="0">
                <a:solidFill>
                  <a:srgbClr val="EEE7D8"/>
                </a:solidFill>
              </a:rPr>
              <a:t>Viewport-to-content width; horizontal overflow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96256-9F14-4B91-A165-9C1E43E3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203B7-07A6-4AED-8A8C-20490CEA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76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A48"/>
                </a:solidFill>
              </a:defRPr>
            </a:pPr>
            <a:r>
              <a:rPr sz="2100" b="1">
                <a:solidFill>
                  <a:srgbClr val="C79A48"/>
                </a:solidFill>
              </a:rPr>
              <a:t>19 + 3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AC68F-043A-4B80-9841-A904C43D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051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E7D8"/>
                </a:solidFill>
              </a:defRPr>
            </a:pPr>
            <a:r>
              <a:rPr sz="1350" b="0">
                <a:solidFill>
                  <a:srgbClr val="EEE7D8"/>
                </a:solidFill>
              </a:rPr>
              <a:t>Lint errors and warnings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0D6C2-A8D2-48C6-9166-C9B73121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33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50473-D3AF-41C2-AC86-BD70AB1E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0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A48"/>
                </a:solidFill>
              </a:defRPr>
            </a:pPr>
            <a:r>
              <a:rPr sz="2100" b="1">
                <a:solidFill>
                  <a:srgbClr val="C79A48"/>
                </a:solidFill>
              </a:rPr>
              <a:t>~567 KB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7B1DD-7546-4737-A1C6-8606DB68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4290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E7D8"/>
                </a:solidFill>
              </a:defRPr>
            </a:pPr>
            <a:r>
              <a:rPr sz="1350" b="0">
                <a:solidFill>
                  <a:srgbClr val="EEE7D8"/>
                </a:solidFill>
              </a:rPr>
              <a:t>Main JavaScript bundle; chunk warning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B5FD8-F1E8-48D4-B85A-EA2D2338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576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45ED4-5F8D-459F-B5E4-6631D47F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24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A48"/>
                </a:solidFill>
              </a:defRPr>
            </a:pPr>
            <a:r>
              <a:rPr sz="2100" b="1">
                <a:solidFill>
                  <a:srgbClr val="C79A48"/>
                </a:solidFill>
              </a:rPr>
              <a:t>25-30 sec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53374-EB4B-4D92-9E40-4C76286D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529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E7D8"/>
                </a:solidFill>
              </a:defRPr>
            </a:pPr>
            <a:r>
              <a:rPr sz="1350" b="0">
                <a:solidFill>
                  <a:srgbClr val="EEE7D8"/>
                </a:solidFill>
              </a:rPr>
              <a:t>Several secondary populated screens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99A62-88A7-4E65-AE09-285B0E4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815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A61E3-E213-42BE-944C-87B1F23E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482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A48"/>
                </a:solidFill>
              </a:defRPr>
            </a:pPr>
            <a:r>
              <a:rPr sz="2100" b="1">
                <a:solidFill>
                  <a:srgbClr val="C79A48"/>
                </a:solidFill>
              </a:rPr>
              <a:t>0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54527-4FD8-4892-954F-F748D3DA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768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E7D8"/>
                </a:solidFill>
              </a:defRPr>
            </a:pPr>
            <a:r>
              <a:rPr sz="1350" b="0">
                <a:solidFill>
                  <a:srgbClr val="EEE7D8"/>
                </a:solidFill>
              </a:rPr>
              <a:t>No automated test script defined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05B9B-D689-4F9D-97DA-14EC7A71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054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723D4-8311-4B59-A8B9-0FD7A4A4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340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Build passes. Populated major screens and loading states were observed. Empty, error, permission, destructive-confirmation, and save-result states still need controlled fixtures.</a:t>
            </a:r>
          </a:p>
        </p:txBody>
      </p:sp>
    </p:spTree>
    <p:extLst>
      <p:ext uri="{BB962C8B-B14F-4D97-AF65-F5344CB8AC3E}">
        <p14:creationId xmlns:p14="http://schemas.microsoft.com/office/powerpoint/2010/main" val="397028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404DFD-DA0D-4581-AAD6-4E37445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FA03F-4FF3-4FBE-A684-FE0366D9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DESIGN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BD12B-7A75-4835-8419-B4AEF13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12B16-DF3A-4F0D-985D-1BA00ED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5B71A-5994-4633-A82C-F1E29B54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A ritual instrument gives dense work a coherent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8DD1A-E075-4E84-B1CF-86D102C4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9F91"/>
                </a:solidFill>
              </a:defRPr>
            </a:pPr>
            <a:r>
              <a:rPr sz="1350" b="0">
                <a:solidFill>
                  <a:srgbClr val="A79F91"/>
                </a:solidFill>
              </a:rPr>
              <a:t>Matte metal, parchment, engraved rules, and restrained school-color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35028-1A05-46F6-9CE9-A8AA9D15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8CAE1-BB96-4FAE-A8A8-A00A256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D809E-282B-46DD-8F01-F1B4962E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D315F-2158-4E23-9C24-5FFB56F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6C017-0FC5-43C0-9099-B1796CB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7B265-2DF8-44C3-8E23-750E014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RAISED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01B91-1892-4AB4-933C-440FBDE6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79AE6-C484-4C49-97C1-C5DE9B8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PARCHMENT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42B8B-84B8-4B32-A1AA-9955640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E87B0-66A6-4A93-92C1-C6BB075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69B8E-229C-4B92-84B6-7093B88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F44F3-6BD9-43A1-842D-BC9179EE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GOLD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1AEBC-9D8A-4112-9844-79A3F43B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1BEC2-C19C-4ECF-9AC5-FD394F2E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DANGER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F49FF-9673-46CB-A5BC-7B2C76C1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19275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C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658C8-3223-4BA8-9872-AFB6A6FB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28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9F91"/>
                </a:solidFill>
              </a:defRPr>
            </a:pPr>
            <a:r>
              <a:rPr sz="825" b="1">
                <a:solidFill>
                  <a:srgbClr val="A79F91"/>
                </a:solidFill>
              </a:rPr>
              <a:t>FOCUS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80622-CBB2-4B70-8A76-D01348C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E7D8"/>
                </a:solidFill>
              </a:defRPr>
            </a:pPr>
            <a:r>
              <a:rPr sz="3300" b="1">
                <a:solidFill>
                  <a:srgbClr val="EEE7D8"/>
                </a:solidFill>
              </a:rPr>
              <a:t>CULTIVATED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18AEA-0F45-40E7-9787-D3FAEC60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719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9F91"/>
                </a:solidFill>
              </a:defRPr>
            </a:pPr>
            <a:r>
              <a:rPr sz="1350" b="0">
                <a:solidFill>
                  <a:srgbClr val="A79F91"/>
                </a:solidFill>
              </a:rPr>
              <a:t>Short engraved headings carry lore and place.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C0757-7E2D-4CB7-9929-15D947EE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19DAE-1576-4260-A2F1-F7AC153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38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INTERACTION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7FE6D-CF91-4243-9148-BCE21562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EE7D8"/>
                </a:solidFill>
              </a:defRPr>
            </a:pPr>
            <a:r>
              <a:rPr sz="1575" b="1">
                <a:solidFill>
                  <a:srgbClr val="EEE7D8"/>
                </a:solidFill>
              </a:rPr>
              <a:t>Command rail</a:t>
            </a:r>
          </a:p>
          <a:p xmlns:a="http://schemas.openxmlformats.org/drawingml/2006/main">
            <a:pPr algn="l">
              <a:defRPr sz="1575" b="1">
                <a:solidFill>
                  <a:srgbClr val="EEE7D8"/>
                </a:solidFill>
              </a:defRPr>
            </a:pPr>
            <a:r>
              <a:rPr sz="1575" b="1">
                <a:solidFill>
                  <a:srgbClr val="EEE7D8"/>
                </a:solidFill>
              </a:rPr>
              <a:t>Command band</a:t>
            </a:r>
          </a:p>
          <a:p xmlns:a="http://schemas.openxmlformats.org/drawingml/2006/main">
            <a:pPr algn="l">
              <a:defRPr sz="1575" b="1">
                <a:solidFill>
                  <a:srgbClr val="EEE7D8"/>
                </a:solidFill>
              </a:defRPr>
            </a:pPr>
            <a:r>
              <a:rPr sz="1575" b="1">
                <a:solidFill>
                  <a:srgbClr val="EEE7D8"/>
                </a:solidFill>
              </a:rPr>
              <a:t>Artifact plate</a:t>
            </a:r>
          </a:p>
          <a:p xmlns:a="http://schemas.openxmlformats.org/drawingml/2006/main">
            <a:pPr algn="l">
              <a:defRPr sz="1575" b="1">
                <a:solidFill>
                  <a:srgbClr val="EEE7D8"/>
                </a:solidFill>
              </a:defRPr>
            </a:pPr>
            <a:r>
              <a:rPr sz="1575" b="1">
                <a:solidFill>
                  <a:srgbClr val="EEE7D8"/>
                </a:solidFill>
              </a:rPr>
              <a:t>Inventory ledger</a:t>
            </a:r>
          </a:p>
          <a:p xmlns:a="http://schemas.openxmlformats.org/drawingml/2006/main">
            <a:pPr algn="l">
              <a:defRPr sz="1575" b="1">
                <a:solidFill>
                  <a:srgbClr val="EEE7D8"/>
                </a:solidFill>
              </a:defRPr>
            </a:pPr>
            <a:r>
              <a:rPr sz="1575" b="1">
                <a:solidFill>
                  <a:srgbClr val="EEE7D8"/>
                </a:solidFill>
              </a:rPr>
              <a:t>Arsenal grid</a:t>
            </a:r>
          </a:p>
          <a:p xmlns:a="http://schemas.openxmlformats.org/drawingml/2006/main">
            <a:pPr algn="l">
              <a:defRPr sz="1575" b="1">
                <a:solidFill>
                  <a:srgbClr val="EEE7D8"/>
                </a:solidFill>
              </a:defRPr>
            </a:pPr>
            <a:r>
              <a:rPr sz="1575" b="1">
                <a:solidFill>
                  <a:srgbClr val="EEE7D8"/>
                </a:solidFill>
              </a:rPr>
              <a:t>Focused inspector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217E9-F4B8-4B0C-82A6-72AD2190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14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CD072-E6FA-4F7D-A523-B85A162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School colors identify content. Antique gold identifies interaction. Focus blue identifies keyboard position.</a:t>
            </a:r>
          </a:p>
        </p:txBody>
      </p:sp>
    </p:spTree>
    <p:extLst>
      <p:ext uri="{BB962C8B-B14F-4D97-AF65-F5344CB8AC3E}">
        <p14:creationId xmlns:p14="http://schemas.microsoft.com/office/powerpoint/2010/main" val="938512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97750-0F63-4C93-BBE6-BDAFD78B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806B9-287D-478E-AB25-3F6C8E45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F3AAC-1974-4E18-8306-99C50CC0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05B2F-F463-4697-BB41-091E900D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504C6-2B99-4C8C-886F-14EBB31C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Home becomes an authored starting point, not a panel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9D29E-C8EE-4DB3-B1F1-1660D1AB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43174-4689-4F49-8EFE-E5B8D11A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B3CB6-E46A-4016-A8AF-8D841135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181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90d24fe624ce3"/>
          <a:stretch xmlns:a="http://schemas.openxmlformats.org/drawingml/2006/main"/>
        </p:blipFill>
        <p:spPr>
          <a:xfrm xmlns:a="http://schemas.openxmlformats.org/drawingml/2006/main">
            <a:off x="514350" y="2197463"/>
            <a:ext cx="5143500" cy="289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37DB8-7A8F-4C3D-AC7D-324E26A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57531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23408c1cb4a11"/>
          <a:stretch xmlns:a="http://schemas.openxmlformats.org/drawingml/2006/main"/>
        </p:blipFill>
        <p:spPr>
          <a:xfrm xmlns:a="http://schemas.openxmlformats.org/drawingml/2006/main">
            <a:off x="5943600" y="2035114"/>
            <a:ext cx="5715000" cy="321639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E5AED-ED87-49DC-BCA1-377654F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Competing filter, summary, heading, and cards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39EFF-8F91-4824-9030-E3603EF4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A48"/>
                </a:solidFill>
              </a:defRPr>
            </a:pPr>
            <a:r>
              <a:rPr sz="1200" b="1">
                <a:solidFill>
                  <a:srgbClr val="C79A48"/>
                </a:solidFill>
              </a:rPr>
              <a:t>Command rail, seasonal masthead, clear recent-build focus</a:t>
            </a:r>
          </a:p>
        </p:txBody>
      </p:sp>
    </p:spTree>
    <p:extLst>
      <p:ext uri="{BB962C8B-B14F-4D97-AF65-F5344CB8AC3E}">
        <p14:creationId xmlns:p14="http://schemas.microsoft.com/office/powerpoint/2010/main" val="2060675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F6827-FAE3-4D18-B27E-E96A7E2C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11736-8F45-431F-8026-BA1B658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E87A-8511-4464-9CDF-BA42F7B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74371-69FD-41FF-8081-3247AD3C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232E7-4641-433C-B100-935B05D9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Codex turns search, context, and results into one task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10936-7C5B-4530-A961-543F4A09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DC0CB-B725-4E3D-8366-B45BA3AD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E8E14-D020-45C5-B4AD-E31FA2E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181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16bbd111b4a52"/>
          <a:stretch xmlns:a="http://schemas.openxmlformats.org/drawingml/2006/main"/>
        </p:blipFill>
        <p:spPr>
          <a:xfrm xmlns:a="http://schemas.openxmlformats.org/drawingml/2006/main">
            <a:off x="514350" y="2197463"/>
            <a:ext cx="5143500" cy="289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197EB-3025-4F02-A00A-1628A21B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57531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98904ee704ce8"/>
          <a:stretch xmlns:a="http://schemas.openxmlformats.org/drawingml/2006/main"/>
        </p:blipFill>
        <p:spPr>
          <a:xfrm xmlns:a="http://schemas.openxmlformats.org/drawingml/2006/main">
            <a:off x="5943600" y="2035114"/>
            <a:ext cx="5715000" cy="321639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D1B2B-8CDF-4BAF-A635-A9A4DE6A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Controls and result context require repeated rescanning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0F714-1CF5-4FD7-A9D2-956EB715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A48"/>
                </a:solidFill>
              </a:defRPr>
            </a:pPr>
            <a:r>
              <a:rPr sz="1200" b="1">
                <a:solidFill>
                  <a:srgbClr val="C79A48"/>
                </a:solidFill>
              </a:rPr>
              <a:t>One catalog command band with active state and denser artifacts</a:t>
            </a:r>
          </a:p>
        </p:txBody>
      </p:sp>
    </p:spTree>
    <p:extLst>
      <p:ext uri="{BB962C8B-B14F-4D97-AF65-F5344CB8AC3E}">
        <p14:creationId xmlns:p14="http://schemas.microsoft.com/office/powerpoint/2010/main" val="2104443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8756C-FD7C-4ADB-9D39-4AFDE1B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3D551-E46F-42BD-9B58-1F6C9519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BUILD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840EB-651F-4159-B244-80B61B62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6A69B-EC43-4CC2-85DE-53A3E750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B5A14-F6DD-4BCB-B10E-D1E12EFA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Build detail should behave like a workspace, not an oversized modal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94B62-73C4-45B9-AC23-67BA253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96F4D-3DD9-4882-9EE5-8FFCB6D0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1A240-D64C-42AE-B938-F0A69960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181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60135db334e2c"/>
          <a:stretch xmlns:a="http://schemas.openxmlformats.org/drawingml/2006/main"/>
        </p:blipFill>
        <p:spPr>
          <a:xfrm xmlns:a="http://schemas.openxmlformats.org/drawingml/2006/main">
            <a:off x="514350" y="2197463"/>
            <a:ext cx="5143500" cy="289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04B66-AB1A-4871-81D0-E7C1701D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57531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3a0ee929b4080"/>
          <a:stretch xmlns:a="http://schemas.openxmlformats.org/drawingml/2006/main"/>
        </p:blipFill>
        <p:spPr>
          <a:xfrm xmlns:a="http://schemas.openxmlformats.org/drawingml/2006/main">
            <a:off x="5943600" y="2035114"/>
            <a:ext cx="5715000" cy="321639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682C0-13A6-4281-B950-371AE74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Overlay navigation and actions compete with build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5C101-C73E-4C89-9642-CB68D7E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A48"/>
                </a:solidFill>
              </a:defRPr>
            </a:pPr>
            <a:r>
              <a:rPr sz="1200" b="1">
                <a:solidFill>
                  <a:srgbClr val="C79A48"/>
                </a:solidFill>
              </a:rPr>
              <a:t>Stable masthead, local sections, and a clear path into Loadout</a:t>
            </a:r>
          </a:p>
        </p:txBody>
      </p:sp>
    </p:spTree>
    <p:extLst>
      <p:ext uri="{BB962C8B-B14F-4D97-AF65-F5344CB8AC3E}">
        <p14:creationId xmlns:p14="http://schemas.microsoft.com/office/powerpoint/2010/main" val="1665866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33DCB-097F-4951-96CF-D9366A2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668A5-46DC-435B-94AC-60C1BACE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LOADOUT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DFC19-9F75-4E42-8AC6-BFE7DC4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0F4D1-853E-4740-A773-4884510C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90D4-A81A-4F5C-850B-067977EE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The Arsenal grid becomes the primary instrument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C9106-5201-4BED-AB3C-468AEE2A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19225"/>
            <a:ext cx="832485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21cc1ff64441e"/>
          <a:stretch xmlns:a="http://schemas.openxmlformats.org/drawingml/2006/main"/>
        </p:blipFill>
        <p:spPr>
          <a:xfrm xmlns:a="http://schemas.openxmlformats.org/drawingml/2006/main">
            <a:off x="519725" y="1438275"/>
            <a:ext cx="8276000" cy="46577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E1590-047F-472D-9E01-F1963469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43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NON-NEGOTIABLE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8916-0242-4F76-96B4-A7069AAD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43100"/>
            <a:ext cx="247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Exact slot order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2-4-4 for Warframe/Melee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4 × 2 for weapons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Separate Aura/Stance/Exilus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Capacity and polarity stay legible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3F7BD-09B3-46E8-8562-87755BFC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052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0018D-2123-45C7-96B5-507DB7BD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91025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A48"/>
                </a:solidFill>
              </a:defRPr>
            </a:pPr>
            <a:r>
              <a:rPr sz="1275" b="1">
                <a:solidFill>
                  <a:srgbClr val="C79A48"/>
                </a:solidFill>
              </a:rPr>
              <a:t>On narrow screens, preserve the grid as an atomic canvas. Pan it; do not rearrange it into fiction.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0F2F0-31B6-4FC0-AD15-5992D897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626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9F91"/>
                </a:solidFill>
              </a:defRPr>
            </a:pPr>
            <a:r>
              <a:rPr sz="1050" b="0">
                <a:solidFill>
                  <a:srgbClr val="A79F91"/>
                </a:solidFill>
              </a:rPr>
              <a:t>Concept text and values are illustrative; slot geometry is the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5409780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70CC2-92B7-4685-9997-8EAA2728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CFC24-BDB4-4842-8248-517DA565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MODS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60553-E8FF-423C-B25F-2313948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01B7-9108-4C61-99C8-20E4ECDE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2137-6ACA-4974-A4EF-8CE8E44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Mods needs a comparative ledger, not three oversized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6D4F5-41A5-4F62-9215-A7FBDDB3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F4ACC-EFC3-4018-97AD-5B567C0E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AF808-ABBC-45AC-B584-CF4D1C4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181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f1419a5c44a99"/>
          <a:stretch xmlns:a="http://schemas.openxmlformats.org/drawingml/2006/main"/>
        </p:blipFill>
        <p:spPr>
          <a:xfrm xmlns:a="http://schemas.openxmlformats.org/drawingml/2006/main">
            <a:off x="514350" y="2197463"/>
            <a:ext cx="5143500" cy="289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65134-CBD8-4A48-B051-CDC103F6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57531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d2532a4034a9c"/>
          <a:stretch xmlns:a="http://schemas.openxmlformats.org/drawingml/2006/main"/>
        </p:blipFill>
        <p:spPr>
          <a:xfrm xmlns:a="http://schemas.openxmlformats.org/drawingml/2006/main">
            <a:off x="5943600" y="2035114"/>
            <a:ext cx="5715000" cy="321639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687C6-AC3B-4700-BC80-14FB7A7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Large surfaces separate ownership, rank, and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8B9E9-E437-49B2-9D10-8353489E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A48"/>
                </a:solidFill>
              </a:defRPr>
            </a:pPr>
            <a:r>
              <a:rPr sz="1200" b="1">
                <a:solidFill>
                  <a:srgbClr val="C79A48"/>
                </a:solidFill>
              </a:rPr>
              <a:t>Stable columns, inline rank control, and one focused inspector</a:t>
            </a:r>
          </a:p>
        </p:txBody>
      </p:sp>
    </p:spTree>
    <p:extLst>
      <p:ext uri="{BB962C8B-B14F-4D97-AF65-F5344CB8AC3E}">
        <p14:creationId xmlns:p14="http://schemas.microsoft.com/office/powerpoint/2010/main" val="3674057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1C332-6A20-46CA-8724-F289E117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E6F85-B351-4AAD-9A8E-616E7FC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ADD/EDIT RIVEN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7E7DA-51C0-4BBB-85CC-1E53483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AF751-A3FB-43C6-A7A3-E7528AF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C20C3-71AF-45B5-BA72-79051D4B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Riven editing keeps its structured rules and gains a readable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8D4A2-F33E-465D-9ABD-79EA8AF2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338AF-49BE-4FAB-A5F3-83546EF8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DB144-DBA5-4C42-892F-B0622E5B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181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2b4cfa08f41f6"/>
          <a:stretch xmlns:a="http://schemas.openxmlformats.org/drawingml/2006/main"/>
        </p:blipFill>
        <p:spPr>
          <a:xfrm xmlns:a="http://schemas.openxmlformats.org/drawingml/2006/main">
            <a:off x="514350" y="2197463"/>
            <a:ext cx="5143500" cy="289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58FB3-8F2C-4EA6-8A78-166D420B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57531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0B"/>
          </a:solidFill>
          <a:ln xmlns:a="http://schemas.openxmlformats.org/drawingml/2006/main" w="9525">
            <a:solidFill>
              <a:srgbClr val="4A423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57ff0fa7a4ea3"/>
          <a:stretch xmlns:a="http://schemas.openxmlformats.org/drawingml/2006/main"/>
        </p:blipFill>
        <p:spPr>
          <a:xfrm xmlns:a="http://schemas.openxmlformats.org/drawingml/2006/main">
            <a:off x="5943600" y="2035114"/>
            <a:ext cx="5715000" cy="321639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850E3-4444-409B-A5B1-3DEAC3F4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Weapon, inscription, polarity, rank, and actions share one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A4BB8-FD94-4AAC-87A9-EF5B23CB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A48"/>
                </a:solidFill>
              </a:defRPr>
            </a:pPr>
            <a:r>
              <a:rPr sz="1200" b="1">
                <a:solidFill>
                  <a:srgbClr val="C79A48"/>
                </a:solidFill>
              </a:rPr>
              <a:t>Weapon context, rule-driven stats, and completion are separated</a:t>
            </a:r>
          </a:p>
        </p:txBody>
      </p:sp>
    </p:spTree>
    <p:extLst>
      <p:ext uri="{BB962C8B-B14F-4D97-AF65-F5344CB8AC3E}">
        <p14:creationId xmlns:p14="http://schemas.microsoft.com/office/powerpoint/2010/main" val="10241024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25E2EB-8396-4C02-A878-3627D3C2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A48"/>
                </a:solidFill>
              </a:defRPr>
            </a:pPr>
            <a:r>
              <a:rPr sz="1050" b="1">
                <a:solidFill>
                  <a:srgbClr val="C79A48"/>
                </a:solidFill>
              </a:rPr>
              <a:t>CEPHALON 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3DE51-EA2B-4A44-8AC8-D75132D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9F91"/>
                </a:solidFill>
              </a:defRPr>
            </a:pPr>
            <a:r>
              <a:rPr sz="900" b="1">
                <a:solidFill>
                  <a:srgbClr val="A79F91"/>
                </a:solidFill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959AF-EB95-4C18-8A3F-56302377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6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0FE87-BFB2-482B-B1F2-A98C106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1AA9F-211A-4EC4-84A3-ECC4CE6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EE7D8"/>
                </a:solidFill>
              </a:defRPr>
            </a:pPr>
            <a:r>
              <a:rPr sz="2700" b="1">
                <a:solidFill>
                  <a:srgbClr val="EEE7D8"/>
                </a:solidFill>
              </a:rPr>
              <a:t>Approve the system first; migrate the product in controlled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66E0C-BC4C-4BEE-9EE9-4113B72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79A48"/>
                </a:solidFill>
              </a:defRPr>
            </a:pPr>
            <a:r>
              <a:rPr sz="2700" b="1">
                <a:solidFill>
                  <a:srgbClr val="C79A48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9322F-8E4D-41FE-9ADD-22FF74EC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9F766-300E-4E03-86B4-0EFCDDE8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7D8"/>
                </a:solidFill>
              </a:defRPr>
            </a:pPr>
            <a:r>
              <a:rPr sz="975" b="1">
                <a:solidFill>
                  <a:srgbClr val="EEE7D8"/>
                </a:solidFill>
              </a:rPr>
              <a:t>STABILIZE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68494-1A25-45D3-84ED-C329E8E3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Lint, smoke tests, state fixtures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3721F-B84D-4577-94AC-4A2CFCD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7621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79A48"/>
                </a:solidFill>
              </a:defRPr>
            </a:pPr>
            <a:r>
              <a:rPr sz="2700" b="1">
                <a:solidFill>
                  <a:srgbClr val="C79A48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D0D26-BBA9-48FD-A86C-225B3418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241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6C697-025C-4410-8DF7-3069FAE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336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7D8"/>
                </a:solidFill>
              </a:defRPr>
            </a:pPr>
            <a:r>
              <a:rPr sz="975" b="1">
                <a:solidFill>
                  <a:srgbClr val="EEE7D8"/>
                </a:solidFill>
              </a:rPr>
              <a:t>SHELL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777DE-42FF-47A4-9531-27B3E42C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765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Tokens, navigation, accessible primitives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196A0-F189-43E5-9412-82EEC2FE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621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79A48"/>
                </a:solidFill>
              </a:defRPr>
            </a:pPr>
            <a:r>
              <a:rPr sz="2700" b="1">
                <a:solidFill>
                  <a:srgbClr val="C79A4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1873A-2BCC-4005-817B-4A2E74D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97C33-A5F3-4B62-92C6-0473218C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7D8"/>
                </a:solidFill>
              </a:defRPr>
            </a:pPr>
            <a:r>
              <a:rPr sz="975" b="1">
                <a:solidFill>
                  <a:srgbClr val="EEE7D8"/>
                </a:solidFill>
              </a:rPr>
              <a:t>DISCOVERY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D59FD-A2C8-4C91-AFCF-74CC250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Home and Codex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DA212-267A-41C8-AB1C-BB72A83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621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79A48"/>
                </a:solidFill>
              </a:defRPr>
            </a:pPr>
            <a:r>
              <a:rPr sz="2700" b="1">
                <a:solidFill>
                  <a:srgbClr val="C79A4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3B681-4E97-4E26-A0F0-1E89B7E8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241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FBA96-847C-497E-8964-F98F8070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336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7D8"/>
                </a:solidFill>
              </a:defRPr>
            </a:pPr>
            <a:r>
              <a:rPr sz="975" b="1">
                <a:solidFill>
                  <a:srgbClr val="EEE7D8"/>
                </a:solidFill>
              </a:rPr>
              <a:t>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5E82E-CDF1-4A84-8AF5-449292DB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765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Detail, Loadout, Riven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BCB33-D0E0-4C7D-AB10-49FCA02A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621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79A48"/>
                </a:solidFill>
              </a:defRPr>
            </a:pPr>
            <a:r>
              <a:rPr sz="2700" b="1">
                <a:solidFill>
                  <a:srgbClr val="C79A48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758EF-E338-402E-B4A9-B22C95F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3634D-76AF-4D0F-8A51-B1E380A7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7D8"/>
                </a:solidFill>
              </a:defRPr>
            </a:pPr>
            <a:r>
              <a:rPr sz="975" b="1">
                <a:solidFill>
                  <a:srgbClr val="EEE7D8"/>
                </a:solidFill>
              </a:rPr>
              <a:t>INVENTORY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EB776-34AB-473A-B110-0293B997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Mods and Armory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B3F6E-F0B4-4BE7-AD5F-162C361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621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79A48"/>
                </a:solidFill>
              </a:defRPr>
            </a:pPr>
            <a:r>
              <a:rPr sz="2700" b="1">
                <a:solidFill>
                  <a:srgbClr val="C79A48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DF491-881B-432C-BE82-D3933717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241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E59289-FE03-4696-9E35-208395B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5336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7D8"/>
                </a:solidFill>
              </a:defRPr>
            </a:pPr>
            <a:r>
              <a:rPr sz="975" b="1">
                <a:solidFill>
                  <a:srgbClr val="EEE7D8"/>
                </a:solidFill>
              </a:rPr>
              <a:t>HARDEN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29B0C-C3D4-427D-9DBE-F5C9E2AA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8765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Responsive, a11y, performance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2A133-8CAF-4938-82ED-76BDF722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111442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730F93-3363-414A-BA76-4C497BD5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A48"/>
                </a:solidFill>
              </a:defRPr>
            </a:pPr>
            <a:r>
              <a:rPr sz="900" b="1">
                <a:solidFill>
                  <a:srgbClr val="C79A48"/>
                </a:solidFill>
              </a:rPr>
              <a:t>APPROVAL GATES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4272C-D28E-4072-93AB-E8B64826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14875"/>
            <a:ext cx="666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1  Cultivated Arsenal direction and command rail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2  Six-concept scope; Armory reuses the inventory ledger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3  URL-backed navigation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4  Graceful mobile compatibility; exact grids stay atomic</a:t>
            </a:r>
          </a:p>
          <a:p xmlns:a="http://schemas.openxmlformats.org/drawingml/2006/main">
            <a:pPr algn="l">
              <a:defRPr sz="1350" b="1">
                <a:solidFill>
                  <a:srgbClr val="EEE7D8"/>
                </a:solidFill>
              </a:defRPr>
            </a:pPr>
            <a:r>
              <a:rPr sz="1350" b="1">
                <a:solidFill>
                  <a:srgbClr val="EEE7D8"/>
                </a:solidFill>
              </a:rPr>
              <a:t>5  Mocked no-write fixtures for rare and destructive states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C1E4BF-F265-45B4-ABD1-70DD2BC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391025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F40876-4EBA-4705-867B-C8F89071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815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9A48"/>
                </a:solidFill>
              </a:defRPr>
            </a:pPr>
            <a:r>
              <a:rPr sz="1725" b="1">
                <a:solidFill>
                  <a:srgbClr val="C79A48"/>
                </a:solidFill>
              </a:rPr>
              <a:t>NO APPLICATION CODE</a:t>
            </a:r>
          </a:p>
          <a:p xmlns:a="http://schemas.openxmlformats.org/drawingml/2006/main">
            <a:pPr algn="ctr">
              <a:defRPr sz="1725" b="1">
                <a:solidFill>
                  <a:srgbClr val="C79A48"/>
                </a:solidFill>
              </a:defRPr>
            </a:pPr>
            <a:r>
              <a:rPr sz="1725" b="1">
                <a:solidFill>
                  <a:srgbClr val="C79A48"/>
                </a:solidFill>
              </a:rPr>
              <a:t>HAS CHANGED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C3B382-E52A-4D15-A62F-0BA51ED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9F91"/>
                </a:solidFill>
              </a:defRPr>
            </a:pPr>
            <a:r>
              <a:rPr sz="1200" b="0">
                <a:solidFill>
                  <a:srgbClr val="A79F91"/>
                </a:solidFill>
              </a:rPr>
              <a:t>Approval starts implementation. It does not expand product scope.</a:t>
            </a:r>
          </a:p>
        </p:txBody>
      </p:sp>
    </p:spTree>
    <p:extLst>
      <p:ext uri="{BB962C8B-B14F-4D97-AF65-F5344CB8AC3E}">
        <p14:creationId xmlns:p14="http://schemas.microsoft.com/office/powerpoint/2010/main" val="943062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2026-08-27T19:03:33.8210000Z</dcterms:created>
  <dcterms:modified xsi:type="dcterms:W3CDTF">2026-08-27T19:03:33.8210000Z</dcterms:modified>
</coreProperties>
</file>